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Enquadrar: esta apresentação é um manual de operação, não uma demo de produto. O objetivo é que quem assumir saiba diagnosticar problemas novos, não apenas repetir cliques.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desde já que erro de carga quase sempre é erro de cadastro. Esse é o fio condutor de toda 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mais importante do deck. Reaproveitar este gráfico mentalmente nos blocos seguintes: quando aparecer um erro, localizar 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a tranquilidade: importar não estraga nada. O risco está em aplicar carga completa no período errado — isso vem no bloco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ponto que mais gera o comentário 'o relatório mudou sozinho'. Enfatizar bastante — volta no bloco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validação do navegador é só um espelho para dar resposta rápida. A que vale é a do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menu lateral expandido. Se o menu Parâmetros não aparece, o perfil não é admin — é a primeira coisa a checar num acesso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Cadastro mais simples dos quatro e o que menos dá problema — as filiais mudam pouco.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essa trava é uma cicatriz de incidente. Antes dela, a árvore e o cadastro podiam divergir em silêncio, e a carga falhava com 'Conta não cadastrada' numa conta que estava visível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confusão frequente: Tipo e Gestão parecem redundantes mas servem a coisas diferentes. Tipo = estrutura contábil. Gestão = responsabilidade gerencial.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alguém tiver usado o sistema antes dessa data, pode ter memória de que 'não dava para criar gestão nova'. Agora dá.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que a pessoa tente clicar em Balanço/Fluxo achando que está quebrado.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prática: fechamento do mês = completa; ajuste pontual = adicional. O risco da completa com período errado volta no slide 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planilha vier com a aba de dados em segundo lugar, a importação lê a aba errada e reclama de colunas ausentes. Checar isso primeiro quando o erro for 'colunas obrigatórias ausentes'.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normalização do passo 3 explica por que conta com ponto ou traço no arquivo funciona: o sistema tira tudo que não é dígito dos dois lados da comparação.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exceção do CC vazio é sutil e importante: não gera erro nenhum, mas distorce OPEX e Headcount. Vale conferir se o extrato do ERP traz CC em todas as linhas de despesa.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passo 5 é o que faz o relatório abrir rápido —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alguém perguntar por que o OPEX demora mais que o DRE: é exatamente isso — OPEX precisa do CC, que só existe no ledger detalhado.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print do lote em erro apontando os três lugares.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refazer a importação do zero é desperdício e gera lote duplicado. O ciclo revalidar preserva as correções manuais já feitas na 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tabela para imprimir e deixar colada na mesa. É o slide mais consultado depois que a apresentação acaba.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auditoria existe no banco mas não tem tela. Se precisar investigar quem mudou o quê, é consulta direta no Supabase.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Entradas possíveis: Carga de Realizado → card Headcount, ou Carga de Planejado → Headcount. Os dois caminhos levam ao mesmo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Pessoas sem CC não entram — CC é uma das três checagens obrigatórias.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justifica o item de conferência do checklist do slide 35. É a diferença de maturidade entre os dois módulos.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motivo número 1 de 'o número não bate com o RH'. Se o RH manda um extrato com movimentação, a mesma pessoa pode aparecer duas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Divergência clássica: carga de HC feita, carga de DRE do mesmo mês ainda não. O quadro aparece e o custo sai zerado ou parcial.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print do relatório com as três camadas anotadas.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toggle Quadro / Custo-colab fica no mesmo lugar onde o OPEX tem o seletor de gestão.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prática, a divergência quase sempre é matrícula duplicada (slide 26) ou CC fora do cadastro (slide 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Muita gente trata o campo Gestão como rótulo de relatório. Ele também é controle de acesso — por isso não se mexe sem avisar.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Volta o conceito 2 do slide 5, agora com consequência prática de governança.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principal débito técnico conhecido do módulo. Deixar registrado junto com o handover para não virar surpresa daqui a seis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para imprimir. A ordem importa: DRE antes de Headcount, senão o custo por colaborador sai sem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de conferência evitam um mês inteiro de relatório errado circulando na diretoria.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o bloco com tom prático, não alarmista: nenhuma dessas é irreversível, mas todas custam tempo e credibilidade.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 que o roteiro em markdown fica no repositório, em docs/, e pode ser atualizado quando o sistema mudar.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554480"/>
            <a:ext cx="5852160" cy="5852160"/>
          </a:xfrm>
          <a:prstGeom prst="ellipse">
            <a:avLst/>
          </a:prstGeom>
          <a:solidFill>
            <a:srgbClr val="4F7CFF">
              <a:alpha val="8000"/>
            </a:srgbClr>
          </a:solidFill>
          <a:ln w="12700">
            <a:solidFill>
              <a:srgbClr val="0909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108960"/>
            <a:ext cx="3840480" cy="3840480"/>
          </a:xfrm>
          <a:prstGeom prst="ellipse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0909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VECTONPLAN  ·  MARCHER BRASIL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 Real e Headcount</a:t>
            </a:r>
            <a:endParaRPr lang="en-US" sz="4700" dirty="0"/>
          </a:p>
        </p:txBody>
      </p:sp>
      <p:sp>
        <p:nvSpPr>
          <p:cNvPr id="6" name="Text 4"/>
          <p:cNvSpPr/>
          <p:nvPr/>
        </p:nvSpPr>
        <p:spPr>
          <a:xfrm>
            <a:off x="594360" y="315468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A1A7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Sistemática de carga e agregação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3977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de administração  ·  Julho /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70916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7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5330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470916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7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834640" y="5330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de carga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470916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7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74920" y="5330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 · ABERTURA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sendo entregue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rotinas de carga que alimentam cinco relatórios e o Dashboard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3509162" cy="2487168"/>
          </a:xfrm>
          <a:prstGeom prst="roundRect">
            <a:avLst>
              <a:gd name="adj" fmla="val 2206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104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093976"/>
            <a:ext cx="2576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2104" y="2642616"/>
            <a:ext cx="303367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· Plano de Contas · Centros de Custo · Gestões.</a:t>
            </a:r>
            <a:endParaRPr lang="en-US" sz="1150" dirty="0"/>
          </a:p>
          <a:p>
            <a:pPr indent="0" marL="0">
              <a:lnSpc>
                <a:spcPts val="1564"/>
              </a:lnSpc>
              <a:buNone/>
            </a:pPr>
            <a:endParaRPr lang="en-US" sz="1150" dirty="0"/>
          </a:p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as chaves válidas. Sem eles, nenhuma carga entra.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1266" y="1874520"/>
            <a:ext cx="3509162" cy="2487168"/>
          </a:xfrm>
          <a:prstGeom prst="roundRect">
            <a:avLst>
              <a:gd name="adj" fmla="val 2206"/>
            </a:avLst>
          </a:prstGeom>
          <a:solidFill>
            <a:srgbClr val="121317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9010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901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2786" y="2093976"/>
            <a:ext cx="2576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9010" y="2642616"/>
            <a:ext cx="303367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(DRE) e Headcount.</a:t>
            </a:r>
            <a:endParaRPr lang="en-US" sz="1150" dirty="0"/>
          </a:p>
          <a:p>
            <a:pPr indent="0" marL="0">
              <a:lnSpc>
                <a:spcPts val="1564"/>
              </a:lnSpc>
              <a:buNone/>
            </a:pPr>
            <a:endParaRPr lang="en-US" sz="1150" dirty="0"/>
          </a:p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do ERP/RH vira lote, é validado e só então vira lançamento oficial.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8173" y="1874520"/>
            <a:ext cx="3509162" cy="2487168"/>
          </a:xfrm>
          <a:prstGeom prst="roundRect">
            <a:avLst>
              <a:gd name="adj" fmla="val 2206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5917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5917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19693" y="2093976"/>
            <a:ext cx="2576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25917" y="2642616"/>
            <a:ext cx="303367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Societário · Gerencial · DFs · OPEX · Headcount, mais os cards do Dashboard.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663440"/>
            <a:ext cx="11002975" cy="786384"/>
          </a:xfrm>
          <a:prstGeom prst="roundRect">
            <a:avLst>
              <a:gd name="adj" fmla="val 6977"/>
            </a:avLst>
          </a:prstGeom>
          <a:solidFill>
            <a:srgbClr val="0F101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" y="4864608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44168" y="4754880"/>
            <a:ext cx="1003371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que vale para o deck inteiro: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carga quase sempre é erro de cadastro. O arquivo costuma estar certo — falta a chave do outro lado.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MODELO MENTAL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espinha dorsal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do relatório é montado em 6 etapas — saber em qual delas o problema está resolve 90% dos casos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94560"/>
            <a:ext cx="1681429" cy="2697480"/>
          </a:xfrm>
          <a:prstGeom prst="roundRect">
            <a:avLst>
              <a:gd name="adj" fmla="val 3263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06475" y="2404872"/>
            <a:ext cx="457200" cy="45720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6475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14985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4088" y="3319272"/>
            <a:ext cx="146197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as chaves válidas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75789" y="240487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458669" y="2194560"/>
            <a:ext cx="1681429" cy="2697480"/>
          </a:xfrm>
          <a:prstGeom prst="roundRect">
            <a:avLst>
              <a:gd name="adj" fmla="val 3263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70784" y="2404872"/>
            <a:ext cx="457200" cy="45720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0784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50109" y="2971800"/>
            <a:ext cx="14985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568397" y="3319272"/>
            <a:ext cx="146197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entra como rascunho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40098" y="240487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22978" y="2194560"/>
            <a:ext cx="1681429" cy="2697480"/>
          </a:xfrm>
          <a:prstGeom prst="roundRect">
            <a:avLst>
              <a:gd name="adj" fmla="val 3263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5093" y="2404872"/>
            <a:ext cx="457200" cy="45720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5093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14418" y="2971800"/>
            <a:ext cx="14985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32706" y="3319272"/>
            <a:ext cx="146197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amarra a chave ao ID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04408" y="240487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187288" y="2194560"/>
            <a:ext cx="1681429" cy="2697480"/>
          </a:xfrm>
          <a:prstGeom prst="roundRect">
            <a:avLst>
              <a:gd name="adj" fmla="val 3263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99402" y="2404872"/>
            <a:ext cx="457200" cy="45720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9402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78728" y="2971800"/>
            <a:ext cx="14985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97016" y="3319272"/>
            <a:ext cx="146197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válido vira oficial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68717" y="240487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051597" y="2194560"/>
            <a:ext cx="1681429" cy="2697480"/>
          </a:xfrm>
          <a:prstGeom prst="roundRect">
            <a:avLst>
              <a:gd name="adj" fmla="val 3263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63711" y="2404872"/>
            <a:ext cx="457200" cy="45720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63711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43037" y="2971800"/>
            <a:ext cx="14985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161325" y="3319272"/>
            <a:ext cx="146197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pré-agrega conta × mês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733026" y="240487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9915906" y="2194560"/>
            <a:ext cx="1681429" cy="2697480"/>
          </a:xfrm>
          <a:prstGeom prst="roundRect">
            <a:avLst>
              <a:gd name="adj" fmla="val 3263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528021" y="2404872"/>
            <a:ext cx="457200" cy="45720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28021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007346" y="2971800"/>
            <a:ext cx="14985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0025634" y="3319272"/>
            <a:ext cx="146197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aplicada na leitura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4360" y="5074920"/>
            <a:ext cx="11002975" cy="731520"/>
          </a:xfrm>
          <a:prstGeom prst="roundRect">
            <a:avLst>
              <a:gd name="adj" fmla="val 7500"/>
            </a:avLst>
          </a:prstGeom>
          <a:solidFill>
            <a:srgbClr val="0F1013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3816" y="5248656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344168" y="5166360"/>
            <a:ext cx="100337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mexer em qualquer coisa, pergunte em qual das 6 etapas o número parou. Cada etapa tem uma tela e uma causa própria.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MODELO MENTAL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 1 — o lote é um rascunho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≠ publicar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2462708" cy="1371600"/>
          </a:xfrm>
          <a:prstGeom prst="roundRect">
            <a:avLst>
              <a:gd name="adj" fmla="val 4000"/>
            </a:avLst>
          </a:prstGeom>
          <a:solidFill>
            <a:srgbClr val="121317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313432"/>
            <a:ext cx="246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22376" y="2734056"/>
            <a:ext cx="22066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criado, sem linhas ou incompleto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57068" y="214884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41116" y="2148840"/>
            <a:ext cx="2462708" cy="1371600"/>
          </a:xfrm>
          <a:prstGeom prst="roundRect">
            <a:avLst>
              <a:gd name="adj" fmla="val 4000"/>
            </a:avLst>
          </a:prstGeom>
          <a:solidFill>
            <a:srgbClr val="12131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41116" y="2313432"/>
            <a:ext cx="246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9132" y="2734056"/>
            <a:ext cx="22066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linha inválida — bloqueado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03824" y="214884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7872" y="2148840"/>
            <a:ext cx="2462708" cy="1371600"/>
          </a:xfrm>
          <a:prstGeom prst="roundRect">
            <a:avLst>
              <a:gd name="adj" fmla="val 4000"/>
            </a:avLst>
          </a:prstGeom>
          <a:solidFill>
            <a:srgbClr val="12131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7872" y="2313432"/>
            <a:ext cx="246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15888" y="2734056"/>
            <a:ext cx="22066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válido, aguardando aplicar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50579" y="214884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34627" y="2148840"/>
            <a:ext cx="2462708" cy="1371600"/>
          </a:xfrm>
          <a:prstGeom prst="roundRect">
            <a:avLst>
              <a:gd name="adj" fmla="val 4000"/>
            </a:avLst>
          </a:prstGeom>
          <a:solidFill>
            <a:srgbClr val="12131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34627" y="2313432"/>
            <a:ext cx="246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262643" y="2734056"/>
            <a:ext cx="22066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virou lançamento oficial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813048"/>
            <a:ext cx="11002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88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não estiver aplicado, o lote não aparece em relatório nenhum — pode importar sem medo.</a:t>
            </a:r>
            <a:endParaRPr lang="en-US" sz="1400" dirty="0"/>
          </a:p>
          <a:p>
            <a:pPr marL="342900" indent="-342900">
              <a:lnSpc>
                <a:spcPts val="1988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tenta aplicar automaticamente logo após a importação; havendo erro, o lote para em error.</a:t>
            </a:r>
            <a:endParaRPr lang="en-US" sz="1400" dirty="0"/>
          </a:p>
          <a:p>
            <a:pPr marL="342900" indent="-342900">
              <a:lnSpc>
                <a:spcPts val="1988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é reversível: excluir um lote aplicado remove os lançamentos que ele gerou.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MODELO MENTAL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 2 — a estrutura é aplicada na leitura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ledger guarda conta, CC, valor e data. Ele não guarda 'linha do DRE' nem 'gestão'.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30552"/>
            <a:ext cx="5318608" cy="1371600"/>
          </a:xfrm>
          <a:prstGeom prst="roundRect">
            <a:avLst>
              <a:gd name="adj" fmla="val 4000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2104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gravado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" y="2569464"/>
            <a:ext cx="484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· centro de custo · valor · data · histórico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2130552"/>
            <a:ext cx="5318608" cy="1371600"/>
          </a:xfrm>
          <a:prstGeom prst="roundRect">
            <a:avLst>
              <a:gd name="adj" fmla="val 4000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6472" y="2258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RESOLVIDO na hora de abrir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6472" y="2569464"/>
            <a:ext cx="484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DRE (árvore) · gestão do CC · grupo do OPEX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721608"/>
            <a:ext cx="11002975" cy="914400"/>
          </a:xfrm>
          <a:prstGeom prst="roundRect">
            <a:avLst>
              <a:gd name="adj" fmla="val 6000"/>
            </a:avLst>
          </a:prstGeom>
          <a:solidFill>
            <a:srgbClr val="0F1013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" y="3986784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44168" y="3813048"/>
            <a:ext cx="100337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boa: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reorganizar a árvore de contas ou trocar a gestão de um CC reclassifica todo o histórico — sem recarregar nada.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818888"/>
            <a:ext cx="11002975" cy="914400"/>
          </a:xfrm>
          <a:prstGeom prst="roundRect">
            <a:avLst>
              <a:gd name="adj" fmla="val 6000"/>
            </a:avLst>
          </a:prstGeom>
          <a:solidFill>
            <a:srgbClr val="0F1013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" y="5084064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44168" y="4910328"/>
            <a:ext cx="100337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perigosa: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mudança é retroativa. Meses já fechados mudam de aparência na hora, sem aviso e sem registro.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MODELO MENTAL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 3 — quem valida é o banco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mostra o erro, mas quem decide é o servidor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5272888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35608" y="237744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gravação de cada linha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724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gatilho no banco confere a linha e resolve os IDs de conta, CC e empresa.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(válida / erro + motivo) volta gravado na própria linha.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24448" y="2148840"/>
            <a:ext cx="5272888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8768" y="2377440"/>
            <a:ext cx="457200" cy="45720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876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65696" y="237744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duas coisas são verdade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98768" y="2971800"/>
            <a:ext cx="4724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"Revalidar lote" funciona: regrava as linhas e força nova conferência, já com o cadastro corrigido.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forçar pela tela: o banco recusa aplicar lote com qualquer linha em erro.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672584"/>
            <a:ext cx="11002975" cy="731520"/>
          </a:xfrm>
          <a:prstGeom prst="roundRect">
            <a:avLst>
              <a:gd name="adj" fmla="val 7500"/>
            </a:avLst>
          </a:prstGeom>
          <a:solidFill>
            <a:srgbClr val="0F1013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" y="4846320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44168" y="4764024"/>
            <a:ext cx="100337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o cadastro sem revalidar não muda nada — o lote continua com o diagnóstico antigo gravado.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CADASTROS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ficam os cadastros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Parâmetros — menu visível apenas para perfil admin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2572436" cy="2103120"/>
          </a:xfrm>
          <a:prstGeom prst="roundRect">
            <a:avLst>
              <a:gd name="adj" fmla="val 2609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104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093976"/>
            <a:ext cx="1639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2104" y="2642616"/>
            <a:ext cx="20969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Filiais que aparecem na coluna Empresa do arquivo.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04540" y="1874520"/>
            <a:ext cx="2572436" cy="2103120"/>
          </a:xfrm>
          <a:prstGeom prst="roundRect">
            <a:avLst>
              <a:gd name="adj" fmla="val 2609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42284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228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36060" y="2093976"/>
            <a:ext cx="1639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Contas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42284" y="2642616"/>
            <a:ext cx="20969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do DRE. Criar nó analítico é o que cria a conta.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4720" y="1874520"/>
            <a:ext cx="2572436" cy="2103120"/>
          </a:xfrm>
          <a:prstGeom prst="roundRect">
            <a:avLst>
              <a:gd name="adj" fmla="val 2609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2464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246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6240" y="2093976"/>
            <a:ext cx="1639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Gestões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52464" y="2642616"/>
            <a:ext cx="20969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Nomeia as áreas. Não vincula CC — só exibe.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24899" y="1874520"/>
            <a:ext cx="2572436" cy="2103120"/>
          </a:xfrm>
          <a:prstGeom prst="roundRect">
            <a:avLst>
              <a:gd name="adj" fmla="val 2609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62643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62643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56419" y="2093976"/>
            <a:ext cx="1639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Custos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62643" y="2642616"/>
            <a:ext cx="20969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por Tipo. Aqui se define a Gestão de cada CC.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4270248"/>
            <a:ext cx="11002975" cy="786384"/>
          </a:xfrm>
          <a:prstGeom prst="roundRect">
            <a:avLst>
              <a:gd name="adj" fmla="val 6977"/>
            </a:avLst>
          </a:prstGeom>
          <a:solidFill>
            <a:srgbClr val="0F1013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816" y="4471416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44168" y="4361688"/>
            <a:ext cx="1003371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mesmo menu: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Realizado e Carga de Planejado — as duas rotinas operacionais que vamos ver nos blocos 3 e 5.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CADASTROS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Empresas (filiais)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da empresa tem que ter exatamente 2 dígitos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5272888" cy="2194560"/>
          </a:xfrm>
          <a:prstGeom prst="roundRect">
            <a:avLst>
              <a:gd name="adj" fmla="val 25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350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770632"/>
            <a:ext cx="472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46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— 2 dígitos, obrigatório (ex.: 01, 02)</a:t>
            </a:r>
            <a:endParaRPr lang="en-US" sz="1300" dirty="0"/>
          </a:p>
          <a:p>
            <a:pPr marL="342900" indent="-342900">
              <a:lnSpc>
                <a:spcPts val="1846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filial</a:t>
            </a:r>
            <a:endParaRPr lang="en-US" sz="1300" dirty="0"/>
          </a:p>
          <a:p>
            <a:pPr marL="342900" indent="-342900">
              <a:lnSpc>
                <a:spcPts val="1846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— campo livre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4448" y="2148840"/>
            <a:ext cx="5272888" cy="2194560"/>
          </a:xfrm>
          <a:prstGeom prst="roundRect">
            <a:avLst>
              <a:gd name="adj" fmla="val 2500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98768" y="2350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98768" y="2770632"/>
            <a:ext cx="472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46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coluna Empresa do arquivo de carga — obrigatória em toda linha.</a:t>
            </a:r>
            <a:endParaRPr lang="en-US" sz="1300" dirty="0"/>
          </a:p>
          <a:p>
            <a:pPr marL="342900" indent="-342900">
              <a:lnSpc>
                <a:spcPts val="1846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não cadastrada derruba a linha inteira em erro.</a:t>
            </a:r>
            <a:endParaRPr lang="en-US" sz="1300" dirty="0"/>
          </a:p>
          <a:p>
            <a:pPr marL="342900" indent="-342900">
              <a:lnSpc>
                <a:spcPts val="1846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 1 ou 3 dígitos é recusado pelo banco.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CADASTROS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Contas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nó Analítico na árvore é o que cria a conta contábil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12264"/>
            <a:ext cx="5272888" cy="1060704"/>
          </a:xfrm>
          <a:prstGeom prst="roundRect">
            <a:avLst>
              <a:gd name="adj" fmla="val 5172"/>
            </a:avLst>
          </a:prstGeom>
          <a:solidFill>
            <a:srgbClr val="12131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224028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Sintético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569464"/>
            <a:ext cx="476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Totalizador. Não recebe lançamento — soma os filhos.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4448" y="2112264"/>
            <a:ext cx="5272888" cy="1060704"/>
          </a:xfrm>
          <a:prstGeom prst="roundRect">
            <a:avLst>
              <a:gd name="adj" fmla="val 5172"/>
            </a:avLst>
          </a:prstGeom>
          <a:solidFill>
            <a:srgbClr val="12131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0480" y="224028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Analítico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0480" y="2569464"/>
            <a:ext cx="476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Folha. Recebe lançamento e existe como conta no cadastro.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392424"/>
            <a:ext cx="11002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17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salvar um nó Analítico, o app grava duas coisas de uma vez: a conta no cadastro e o nó na árvore, já vinculados.</a:t>
            </a:r>
            <a:endParaRPr lang="en-US" sz="1350" dirty="0"/>
          </a:p>
          <a:p>
            <a:pPr marL="342900" indent="-342900">
              <a:lnSpc>
                <a:spcPts val="1917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do nó É o número da conta — não são campos independentes.</a:t>
            </a:r>
            <a:endParaRPr lang="en-US" sz="1350" dirty="0"/>
          </a:p>
          <a:p>
            <a:pPr marL="342900" indent="-342900">
              <a:lnSpc>
                <a:spcPts val="1917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um nó exclui também a conta correspondente.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672584"/>
            <a:ext cx="11002975" cy="877824"/>
          </a:xfrm>
          <a:prstGeom prst="roundRect">
            <a:avLst>
              <a:gd name="adj" fmla="val 6250"/>
            </a:avLst>
          </a:prstGeom>
          <a:solidFill>
            <a:srgbClr val="0F1013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" y="4919472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44168" y="4764024"/>
            <a:ext cx="1003371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no banco: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analítico ativo sem conta vinculada — ou com número diferente do código do nó — é recusado. Criada depois de um incidente real em que ~90 contas existiam na árvore e nunca tinham sido criadas no cadastro.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CADASTROS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 de Custos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CC vive na árvore por Tipo; a Gestão é um atributo dele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20939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— define a posição na árvore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44144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19656" y="2441448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19656" y="244144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44952" y="2441448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44952" y="244144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70248" y="2441448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70248" y="244144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95544" y="2441448"/>
            <a:ext cx="1060704" cy="548640"/>
          </a:xfrm>
          <a:prstGeom prst="roundRect">
            <a:avLst>
              <a:gd name="adj" fmla="val 10000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95544" y="244144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86600" y="2075688"/>
            <a:ext cx="4510735" cy="1243584"/>
          </a:xfrm>
          <a:prstGeom prst="roundRect">
            <a:avLst>
              <a:gd name="adj" fmla="val 4412"/>
            </a:avLst>
          </a:prstGeom>
          <a:solidFill>
            <a:srgbClr val="12131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06056" y="222199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— define o agrupamento nos relatórios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06056" y="2551176"/>
            <a:ext cx="403524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Editável somente em nó Analítico. É o campo de maior alcance do sistema — bloco 7.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483864"/>
            <a:ext cx="11002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17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grava o CC no cadastro com número, nome, tipo e gestão.</a:t>
            </a:r>
            <a:endParaRPr lang="en-US" sz="1350" dirty="0"/>
          </a:p>
          <a:p>
            <a:pPr marL="342900" indent="-342900">
              <a:lnSpc>
                <a:spcPts val="1917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Tipo move o CC de lugar na árvore; trocar a Gestão muda como ele soma nos relatórios. São coisas diferentes.</a:t>
            </a:r>
            <a:endParaRPr lang="en-US" sz="1350" dirty="0"/>
          </a:p>
          <a:p>
            <a:pPr marL="342900" indent="-342900">
              <a:lnSpc>
                <a:spcPts val="1917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sem gestão preenchida cai em "Sem área" no Headcount e fica fora dos filtros por gestão do OPEX.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CADASTROS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Gestões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de Gestões nomeia as áreas. A amarração é feita na tela de Centros de Custo.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30552"/>
            <a:ext cx="5272888" cy="2121408"/>
          </a:xfrm>
          <a:prstGeom prst="roundRect">
            <a:avLst>
              <a:gd name="adj" fmla="val 2586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tela faz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734056"/>
            <a:ext cx="472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renomear e excluir gestão.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mostra os CCs vinculados — somente leitura.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Renomear faz cascata nos CCs que usavam o nome antigo.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4448" y="2130552"/>
            <a:ext cx="5272888" cy="2121408"/>
          </a:xfrm>
          <a:prstGeom prst="roundRect">
            <a:avLst>
              <a:gd name="adj" fmla="val 2586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98768" y="2331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vincular um CC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98768" y="2734056"/>
            <a:ext cx="472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→ Centro de Custos → selecionar o nó Analítico → campo Gestão → Salvar.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98768" y="3520440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uma gestão não apaga CC: os vinculados ficam sem gestão e caem em "Sem área".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562856"/>
            <a:ext cx="11002975" cy="786384"/>
          </a:xfrm>
          <a:prstGeom prst="roundRect">
            <a:avLst>
              <a:gd name="adj" fmla="val 6977"/>
            </a:avLst>
          </a:prstGeom>
          <a:solidFill>
            <a:srgbClr val="0F1013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" y="4764024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44168" y="4654296"/>
            <a:ext cx="1003371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31/07/2026: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criada aqui fica imediatamente disponível no dropdown do cadastro de CC. Antes a lista era fixa e a gestão nova não podia ser vinculada.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CARGA DO DRE REALIZADO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catálogo de carga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→ Carga de Realizado → card DRE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2010400" cy="1975104"/>
          </a:xfrm>
          <a:prstGeom prst="roundRect">
            <a:avLst>
              <a:gd name="adj" fmla="val 2778"/>
            </a:avLst>
          </a:prstGeom>
          <a:solidFill>
            <a:srgbClr val="121317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104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093976"/>
            <a:ext cx="107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2104" y="2642616"/>
            <a:ext cx="153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Ativo. É o objeto deste bloco.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42504" y="1874520"/>
            <a:ext cx="2010400" cy="1975104"/>
          </a:xfrm>
          <a:prstGeom prst="roundRect">
            <a:avLst>
              <a:gd name="adj" fmla="val 2778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80248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0248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74024" y="2093976"/>
            <a:ext cx="107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80248" y="2642616"/>
            <a:ext cx="153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breve — sem modelo de dados.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0648" y="1874520"/>
            <a:ext cx="2010400" cy="1975104"/>
          </a:xfrm>
          <a:prstGeom prst="roundRect">
            <a:avLst>
              <a:gd name="adj" fmla="val 2778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28392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8392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22168" y="2093976"/>
            <a:ext cx="107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28392" y="2642616"/>
            <a:ext cx="153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breve — sem modelo de dados.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38792" y="1874520"/>
            <a:ext cx="2010400" cy="1975104"/>
          </a:xfrm>
          <a:prstGeom prst="roundRect">
            <a:avLst>
              <a:gd name="adj" fmla="val 2778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76536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6536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70312" y="2093976"/>
            <a:ext cx="107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de Vendas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76536" y="2642616"/>
            <a:ext cx="153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 para o módulo Comercial.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86935" y="1874520"/>
            <a:ext cx="2010400" cy="1975104"/>
          </a:xfrm>
          <a:prstGeom prst="roundRect">
            <a:avLst>
              <a:gd name="adj" fmla="val 2778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824679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4679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8455" y="2093976"/>
            <a:ext cx="107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24679" y="2642616"/>
            <a:ext cx="153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 para o módulo de HC — bloco 5.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" y="4142232"/>
            <a:ext cx="11002975" cy="786384"/>
          </a:xfrm>
          <a:prstGeom prst="roundRect">
            <a:avLst>
              <a:gd name="adj" fmla="val 6977"/>
            </a:avLst>
          </a:prstGeom>
          <a:solidFill>
            <a:srgbClr val="0F1013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816" y="4343400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44168" y="4233672"/>
            <a:ext cx="1003371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catálogo: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cards cinzas são roadmap, não bug. Os dois com seta apenas levam a outra tela — a carga acontece lá.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CARGA DO DRE REALIZADO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importar: duas decisões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e modo de carga são definidos antes de escolher o arquivo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30552"/>
            <a:ext cx="5272888" cy="1005840"/>
          </a:xfrm>
          <a:prstGeom prst="roundRect">
            <a:avLst>
              <a:gd name="adj" fmla="val 5455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104" y="2359152"/>
            <a:ext cx="548640" cy="54864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130552"/>
            <a:ext cx="4139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do seletor do app; o lote nasce carimbado com esse mês/ano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4448" y="2130552"/>
            <a:ext cx="5272888" cy="1005840"/>
          </a:xfrm>
          <a:prstGeom prst="roundRect">
            <a:avLst>
              <a:gd name="adj" fmla="val 5455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62192" y="2359152"/>
            <a:ext cx="548640" cy="54864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2192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38848" y="2130552"/>
            <a:ext cx="4139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 carga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que acontece com o que já existe no período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337560"/>
            <a:ext cx="5272888" cy="1572768"/>
          </a:xfrm>
          <a:prstGeom prst="roundRect">
            <a:avLst>
              <a:gd name="adj" fmla="val 3488"/>
            </a:avLst>
          </a:prstGeom>
          <a:solidFill>
            <a:srgbClr val="12131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" y="3502152"/>
            <a:ext cx="481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completa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392" y="3849624"/>
            <a:ext cx="4760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o realizado inteiro daquela competência e substitui pelo lote. Pede confirmação.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0392" y="4471416"/>
            <a:ext cx="476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 fechamento do mês.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4448" y="3337560"/>
            <a:ext cx="5272888" cy="1572768"/>
          </a:xfrm>
          <a:prstGeom prst="roundRect">
            <a:avLst>
              <a:gd name="adj" fmla="val 3488"/>
            </a:avLst>
          </a:prstGeom>
          <a:solidFill>
            <a:srgbClr val="12131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0480" y="3502152"/>
            <a:ext cx="481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adicional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0480" y="3849624"/>
            <a:ext cx="4760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 com o que já existe. Só substitui as linhas do próprio lote.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0480" y="4471416"/>
            <a:ext cx="476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 ajuste pontual.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CARGA DO DRE REALIZADO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arquivo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botão Modelo. O leitor aceita variações de nome de coluna, mas não colunas faltando.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75688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74904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no sistema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 no arquivo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Obrigatória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· Filial · Filial de Origem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Custos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Custos · C. Custo · 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 · Lote Sub Doc Linha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01000" y="2075688"/>
            <a:ext cx="3596335" cy="2779776"/>
          </a:xfrm>
          <a:prstGeom prst="roundRect">
            <a:avLst>
              <a:gd name="adj" fmla="val 1974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0456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que pegam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0456" y="2606040"/>
            <a:ext cx="31391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primeira aba é lida.</a:t>
            </a:r>
            <a:endParaRPr lang="en-US" sz="1150" dirty="0"/>
          </a:p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de coluna são normalizados: sem acento, sem espaço, minúsculo.</a:t>
            </a:r>
            <a:endParaRPr lang="en-US" sz="1150" dirty="0"/>
          </a:p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aceita ; ou ,</a:t>
            </a:r>
            <a:endParaRPr lang="en-US" sz="1150" dirty="0"/>
          </a:p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Limites: ~50 MB Excel, ~80 MB texto.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CARGA DO DRE REALIZADO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ao clicar em Importar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clique percorre o caminho todo, se estiver tudo certo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093976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2167128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52728" y="2093976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arquivo no navegador.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715768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2788920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2728" y="2715768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lote com status rascunho.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337560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3410712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52728" y="3337560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cada linha — conta, CC e empresa viram só dígitos; o valor aceita formato brasileiro.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959352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" y="4032504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52728" y="3959352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as linhas em blocos de 200; cada bloco é validado pelo banco na gravação.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4581144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" y="4654296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52728" y="4581144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recalcula os contadores do lote e define o status.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" y="5202936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8952" y="5276088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52728" y="5202936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havendo erro, aplica automaticamente.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94360" y="5861304"/>
            <a:ext cx="11002975" cy="603504"/>
          </a:xfrm>
          <a:prstGeom prst="roundRect">
            <a:avLst>
              <a:gd name="adj" fmla="val 9091"/>
            </a:avLst>
          </a:prstGeom>
          <a:solidFill>
            <a:srgbClr val="0F1013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3816" y="5971032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" y="5971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44168" y="5952744"/>
            <a:ext cx="100337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progresso: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arquivos grandes a tela informa "bloco N de M" — é a gravação em lotes de 200 do passo 4.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CARGA DO DRE REALIZADO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validação confere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Decorar estas regras é decorar o troubleshooting inteiro</a:t>
            </a:r>
            <a:endParaRPr lang="en-US" sz="14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93976"/>
          <a:ext cx="1100297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51967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de erro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significa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obrigatória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célula vazia ou em formato ilegível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fora da competência do lote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mês/ano da linha diferente do período do lote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obrigatória / não cadastrada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a empresa, ou o código não existe em Empresas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obrigatória / não cadastrada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a conta, ou ela não existe no Plano de Contas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custos não cadastrado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preenchido mas inexistente — CC vazio é aceito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obrigatório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não numérico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074920"/>
            <a:ext cx="11002975" cy="822960"/>
          </a:xfrm>
          <a:prstGeom prst="roundRect">
            <a:avLst>
              <a:gd name="adj" fmla="val 6667"/>
            </a:avLst>
          </a:prstGeom>
          <a:solidFill>
            <a:srgbClr val="0F101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13816" y="5294376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44168" y="5166360"/>
            <a:ext cx="100337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 na exceção: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em branco passa na validação. O lançamento entra no DRE normalmente, mas fica fora do OPEX por gestão e do custo do Headcount — some do rateio sem gerar erro.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CARGA DO DRE REALIZADO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aplicação faz no banco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única, transacional e com permissão verificada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093976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2167128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52728" y="2093976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se o usuário tem permissão de edição na organização.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715768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2788920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2728" y="2715768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lote vazio ou com qualquer linha em erro.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337560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3410712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52728" y="3337560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o alvo — a competência inteira se for completa, só o lote se for adicional.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959352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" y="4032504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52728" y="3959352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os lançamentos oficiais.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4581144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" y="4654296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52728" y="4581144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 a tabela-resumo conta × mês daquele mês.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" y="5202936"/>
            <a:ext cx="11002975" cy="512064"/>
          </a:xfrm>
          <a:prstGeom prst="roundRect">
            <a:avLst>
              <a:gd name="adj" fmla="val 10714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8952" y="5276088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52728" y="5202936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o lote como aplicado, com autor e horário.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94360" y="5861304"/>
            <a:ext cx="11002975" cy="603504"/>
          </a:xfrm>
          <a:prstGeom prst="roundRect">
            <a:avLst>
              <a:gd name="adj" fmla="val 9091"/>
            </a:avLst>
          </a:prstGeom>
          <a:solidFill>
            <a:srgbClr val="0F1013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3816" y="5971032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" y="5971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44168" y="5952744"/>
            <a:ext cx="100337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ou nada: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qualquer passo falhar, nada é gravado — não existe estado intermediário de meia-carga aplicada.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CARGA DO DRE REALIZADO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relatório abre rápido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não lê lançamento a lançamento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5272888" cy="1920240"/>
          </a:xfrm>
          <a:prstGeom prst="roundRect">
            <a:avLst>
              <a:gd name="adj" fmla="val 2857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377440"/>
            <a:ext cx="527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MILHARES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94360" y="2953512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lançamentos no ledger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291840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 só no drilldown, no OPEX e no Headcount — onde o CC é necessário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24448" y="2148840"/>
            <a:ext cx="5272888" cy="1920240"/>
          </a:xfrm>
          <a:prstGeom prst="roundRect">
            <a:avLst>
              <a:gd name="adj" fmla="val 2857"/>
            </a:avLst>
          </a:prstGeom>
          <a:solidFill>
            <a:srgbClr val="121317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24448" y="2377440"/>
            <a:ext cx="5272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F7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CENTENAS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324448" y="2953512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linhas na tabela-resumo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90208" y="3291840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conta e mês — é o que os DREs realmente leem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361688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17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tabela-resumo é recalculada a cada aplicação de lote — nunca fica velha.</a:t>
            </a:r>
            <a:endParaRPr lang="en-US" sz="1350" dirty="0"/>
          </a:p>
          <a:p>
            <a:pPr marL="342900" indent="-342900">
              <a:lnSpc>
                <a:spcPts val="1917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aplicar, o cache do ano é limpo: o relatório já abre atualizado, sem precisar recarregar a página.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ERROS E CORREÇÃO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erro aparece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não esconde erro — ele bloqueia a aplicação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2572436" cy="2194560"/>
          </a:xfrm>
          <a:prstGeom prst="roundRect">
            <a:avLst>
              <a:gd name="adj" fmla="val 25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104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093976"/>
            <a:ext cx="1639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cabeçalho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2104" y="2642616"/>
            <a:ext cx="20969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Linhas · Válidas · Erros · Status. É o primeiro lugar a olhar.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04540" y="1874520"/>
            <a:ext cx="2572436" cy="2194560"/>
          </a:xfrm>
          <a:prstGeom prst="roundRect">
            <a:avLst>
              <a:gd name="adj" fmla="val 25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42284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228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36060" y="2093976"/>
            <a:ext cx="1639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linha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42284" y="2642616"/>
            <a:ext cx="20969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vermelho clicável abre o popover com o diagnóstico daquela linha.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4720" y="1874520"/>
            <a:ext cx="2572436" cy="2194560"/>
          </a:xfrm>
          <a:prstGeom prst="roundRect">
            <a:avLst>
              <a:gd name="adj" fmla="val 25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2464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246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6240" y="2093976"/>
            <a:ext cx="1639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botão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52464" y="2642616"/>
            <a:ext cx="20969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"Aplicar lote" fica desabilitado enquanto houver qualquer erro.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24899" y="1874520"/>
            <a:ext cx="2572436" cy="2194560"/>
          </a:xfrm>
          <a:prstGeom prst="roundRect">
            <a:avLst>
              <a:gd name="adj" fmla="val 25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62643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62643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56419" y="2093976"/>
            <a:ext cx="1639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62643" y="2642616"/>
            <a:ext cx="20969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"Revalidar lote" só aparece quando existe erro a corrigir.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4361688"/>
            <a:ext cx="11002975" cy="749808"/>
          </a:xfrm>
          <a:prstGeom prst="roundRect">
            <a:avLst>
              <a:gd name="adj" fmla="val 7317"/>
            </a:avLst>
          </a:prstGeom>
          <a:solidFill>
            <a:srgbClr val="0F1013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816" y="4544568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44168" y="4453128"/>
            <a:ext cx="10033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achar as linhas: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do lote filtra por conta, CC, histórico e número do lote — útil quando são poucas linhas ruins em milhares.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ERROS E CORREÇÃO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de correção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cadastro → revalidar → aplicar. Nunca apagar o lote e recomeçar.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2249424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52728" y="2148840"/>
            <a:ext cx="10143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lote e clicar no badge de erro para ler o diagnóstico.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862072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2962656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2728" y="2862072"/>
            <a:ext cx="10143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ao cadastro correspondente e criar ou corrigir a chave que falta.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575304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3675888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52728" y="3575304"/>
            <a:ext cx="10143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 em Carga de Realizado e clicar em Revalidar lote.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4288536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" y="4389120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52728" y="4288536"/>
            <a:ext cx="10143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que Erros = 0 e o status virou pronto.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5001768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" y="5102352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52728" y="5001768"/>
            <a:ext cx="10143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lote.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" y="5751576"/>
            <a:ext cx="11002975" cy="731520"/>
          </a:xfrm>
          <a:prstGeom prst="roundRect">
            <a:avLst>
              <a:gd name="adj" fmla="val 7500"/>
            </a:avLst>
          </a:prstGeom>
          <a:solidFill>
            <a:srgbClr val="0F1013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816" y="5925312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" y="5925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44168" y="5843016"/>
            <a:ext cx="100337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↻ em cada linha revalida só aquela linha — útil para corrigir um caso isolado sem reprocessar o lote inteiro.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ERROS E CORREÇÃO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por tipo de erro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mensagem tem um destino de cadastro</a:t>
            </a:r>
            <a:endParaRPr lang="en-US" sz="14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93976"/>
          <a:ext cx="1100297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5513832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não cadastrada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Contas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nó Analítico com o código idêntico ao do arquivo, no pai correto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custos não cadastrado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Custos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nó Analítico sob o Tipo certo e escolher a Gestão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não cadastrada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a filial com código de 2 dígitos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fora da competência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(não é cadastro)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período do lote está errado, ou o extrato veio com datas de outro mês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obrigatório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(é o arquivo)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célula em texto ou vazia; corrigir na grade ou no arquivo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074920"/>
            <a:ext cx="11002975" cy="841248"/>
          </a:xfrm>
          <a:prstGeom prst="roundRect">
            <a:avLst>
              <a:gd name="adj" fmla="val 6522"/>
            </a:avLst>
          </a:prstGeom>
          <a:solidFill>
            <a:srgbClr val="0F101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13816" y="5303520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44168" y="5166360"/>
            <a:ext cx="100337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criar conta nova, lembre do slide 33: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entra sozinha no DRE Societário, mas não no Gerencial, DFs, OPEX nem no custo do Headcount.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ERROS E CORREÇÃO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Edição e exclusão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corrigir na própria grade, e dá para desfazer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3509162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104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093976"/>
            <a:ext cx="2576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na grade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2104" y="2642616"/>
            <a:ext cx="30336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célula do lote é editável. Ao sair do campo, salva e revalida sozinha, com sinal visual de salvo ou de erro.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1266" y="1874520"/>
            <a:ext cx="3509162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9010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901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2786" y="2093976"/>
            <a:ext cx="2576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avulso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9010" y="2642616"/>
            <a:ext cx="30336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"Adicionar lançamento" e "Novo lote manual" cobrem ajustes que não valem um arquivo.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8173" y="1874520"/>
            <a:ext cx="3509162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5917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5917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19693" y="2093976"/>
            <a:ext cx="2576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lote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25917" y="2642616"/>
            <a:ext cx="30336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já aplicado, o sistema desfaz a aplicação — remove os lançamentos e recalcula o resumo — antes de excluir. Tudo numa transação.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453128"/>
            <a:ext cx="11002975" cy="749808"/>
          </a:xfrm>
          <a:prstGeom prst="roundRect">
            <a:avLst>
              <a:gd name="adj" fmla="val 7317"/>
            </a:avLst>
          </a:prstGeom>
          <a:solidFill>
            <a:srgbClr val="0F1013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" y="4636008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44168" y="4544568"/>
            <a:ext cx="10033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lote, linha e lançamento têm trilha de auditoria no banco, com autor e horário de cada mudança.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CARGA DE HEADCOUNT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destinos distintos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fácil errar o destino — e o erro só aparece depois, no relatório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3509162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104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093976"/>
            <a:ext cx="2576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2104" y="2642616"/>
            <a:ext cx="30336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efetivo do mês. É o que alimenta o relatório de Headcount Realizado e o card do Dashboard.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1266" y="1874520"/>
            <a:ext cx="3509162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9010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901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2786" y="2093976"/>
            <a:ext cx="2576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9010" y="2642616"/>
            <a:ext cx="30336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planejado do orçamento anual. Alimenta o Headcount Planejado.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8173" y="1874520"/>
            <a:ext cx="3509162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5917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5917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19693" y="2093976"/>
            <a:ext cx="2576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25917" y="2642616"/>
            <a:ext cx="303367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4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de um cenário de forecast específico. Escolher o cenário no dropdown e clicar em Abrir.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453128"/>
            <a:ext cx="11002975" cy="786384"/>
          </a:xfrm>
          <a:prstGeom prst="roundRect">
            <a:avLst>
              <a:gd name="adj" fmla="val 6977"/>
            </a:avLst>
          </a:prstGeom>
          <a:solidFill>
            <a:srgbClr val="0F101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" y="4654296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44168" y="4544568"/>
            <a:ext cx="1003371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antes de importar: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destino escolhido fica carimbado no lote e aparece no topo da tela de carga. É ele que separa realizado de orçado nos relatórios.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CARGA DE HEADCOUNT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arquivo de Headcount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coluna de valor — cada linha é uma pessoa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30552"/>
            <a:ext cx="4114800" cy="2139696"/>
          </a:xfrm>
          <a:prstGeom prst="roundRect">
            <a:avLst>
              <a:gd name="adj" fmla="val 2564"/>
            </a:avLst>
          </a:prstGeom>
          <a:solidFill>
            <a:srgbClr val="12131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44144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linha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pessoa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8408" y="3502152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do relatório é a contagem de linhas por CC e mês. Não há valor a somar.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2130552"/>
          <a:ext cx="6522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0799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 do colaborador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custo — define a gestão no relatório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 da pessoa — ver slide 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nome, aparece no drilldown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aparece no drilldown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94360" y="4489704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lógica de período e de modo (completa × adicional) da carga de DRE. Botão Modelo disponível na tela.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CARGA DE HEADCOUNT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validação aqui é mais frouxa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Headcount confere muito menos que o DRE — a responsabilidade é do operador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30552"/>
            <a:ext cx="5272888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313432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Realizado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642616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checagens no banco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026664"/>
            <a:ext cx="4724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no servidor, impossível de contornar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existência de conta, CC e empresa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de auditoria completa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4448" y="2130552"/>
            <a:ext cx="5272888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98768" y="2313432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98768" y="2642616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checagens no navegador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98768" y="3026664"/>
            <a:ext cx="4724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preenchido · matrícula preenchida · nome preenchido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confere se o CC existe no cadastro</a:t>
            </a:r>
            <a:endParaRPr lang="en-US" sz="1200" dirty="0"/>
          </a:p>
          <a:p>
            <a:pPr marL="342900" indent="-342900">
              <a:lnSpc>
                <a:spcPts val="1704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gatilho de banco e sem tabela de auditoria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636008"/>
            <a:ext cx="11002975" cy="804672"/>
          </a:xfrm>
          <a:prstGeom prst="roundRect">
            <a:avLst>
              <a:gd name="adj" fmla="val 6818"/>
            </a:avLst>
          </a:prstGeom>
          <a:solidFill>
            <a:srgbClr val="0F1013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" y="4846320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44168" y="4727448"/>
            <a:ext cx="1003371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custa: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digitado errado entra sem reclamar e vai parar em "Sem área" no relatório. Confira o relatório logo após a carga, procurando essa seção.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CARGA DE HEADCOUNT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da matrícula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matrícula = 1 pessoa por competência. Duplicata não soma: sobrescreve.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arquivo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6766560" cy="475488"/>
          </a:xfrm>
          <a:prstGeom prst="roundRect">
            <a:avLst>
              <a:gd name="adj" fmla="val 11538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24231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10432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24231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1101 — Produção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66360" y="24231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990088"/>
            <a:ext cx="6766560" cy="475488"/>
          </a:xfrm>
          <a:prstGeom prst="roundRect">
            <a:avLst>
              <a:gd name="adj" fmla="val 11538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" y="29900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10432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29900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2205 — Manutenção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29900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 (é a última)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557016"/>
            <a:ext cx="6766560" cy="475488"/>
          </a:xfrm>
          <a:prstGeom prst="roundRect">
            <a:avLst>
              <a:gd name="adj" fmla="val 11538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" y="355701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10877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35570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1101 — Produção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35570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18120" y="2423160"/>
            <a:ext cx="3779215" cy="1609344"/>
          </a:xfrm>
          <a:prstGeom prst="roundRect">
            <a:avLst>
              <a:gd name="adj" fmla="val 3409"/>
            </a:avLst>
          </a:prstGeom>
          <a:solidFill>
            <a:srgbClr val="121317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18120" y="2606040"/>
            <a:ext cx="3779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7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037576" y="3246120"/>
            <a:ext cx="33403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no relatório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10432 conta no CC 2205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4270248"/>
            <a:ext cx="110029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46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deduplicação usa ano + mês + destino + matrícula. Se a matrícula repete, a última linha vence e a anterior é descartada em silêncio.</a:t>
            </a:r>
            <a:endParaRPr lang="en-US" sz="1300" dirty="0"/>
          </a:p>
          <a:p>
            <a:pPr marL="342900" indent="-342900">
              <a:lnSpc>
                <a:spcPts val="1846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prático: quem trocou de CC no meio do mês conta uma vez só, no CC da última linha do arquivo.</a:t>
            </a:r>
            <a:endParaRPr lang="en-US" sz="1300" dirty="0"/>
          </a:p>
          <a:p>
            <a:pPr marL="342900" indent="-342900">
              <a:lnSpc>
                <a:spcPts val="1846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sem matrícula são ignoradas na aplicação.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AGREGAÇÃO DO HEADCOUNT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relatório cruza duas fontes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e custo vêm de lugares diferentes — e podem divergir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093976"/>
            <a:ext cx="4480560" cy="1463040"/>
          </a:xfrm>
          <a:prstGeom prst="roundRect">
            <a:avLst>
              <a:gd name="adj" fmla="val 3750"/>
            </a:avLst>
          </a:prstGeom>
          <a:solidFill>
            <a:srgbClr val="12131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2104" y="22585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(pessoas)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" y="2606040"/>
            <a:ext cx="4005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linhas da carga de Headcount, por CC e mês.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758184"/>
            <a:ext cx="4480560" cy="1463040"/>
          </a:xfrm>
          <a:prstGeom prst="roundRect">
            <a:avLst>
              <a:gd name="adj" fmla="val 3750"/>
            </a:avLst>
          </a:prstGeom>
          <a:solidFill>
            <a:srgbClr val="12131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" y="39227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" y="4270248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 ledger do DRE realizado por CC e mês, filtrado por uma lista de contas de pessoal.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31546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A2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715000" y="2697480"/>
            <a:ext cx="5882335" cy="1737360"/>
          </a:xfrm>
          <a:prstGeom prst="roundRect">
            <a:avLst>
              <a:gd name="adj" fmla="val 3158"/>
            </a:avLst>
          </a:prstGeom>
          <a:solidFill>
            <a:srgbClr val="121317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52744" y="2898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pelo CC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52744" y="3264408"/>
            <a:ext cx="54068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do centro de custo é o único elo entre as duas fontes. Nada mais as liga.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52744" y="3867912"/>
            <a:ext cx="54068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duas cargas não estiverem no mesmo mês, o custo por colaborador sai distorcido.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AGREGAÇÃO DO HEADCOUNT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linhas são agrupadas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hierarquia é Gestão → Centro de Custo, e ela vem do cadastro de CC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12264"/>
            <a:ext cx="6949440" cy="640080"/>
          </a:xfrm>
          <a:prstGeom prst="roundRect">
            <a:avLst>
              <a:gd name="adj" fmla="val 8571"/>
            </a:avLst>
          </a:prstGeom>
          <a:solidFill>
            <a:srgbClr val="121317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2104" y="211226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Marcher (total)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63240" y="21122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topo — soma tudo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51560" y="2898648"/>
            <a:ext cx="6492240" cy="640080"/>
          </a:xfrm>
          <a:prstGeom prst="roundRect">
            <a:avLst>
              <a:gd name="adj" fmla="val 8571"/>
            </a:avLst>
          </a:prstGeom>
          <a:solidFill>
            <a:srgbClr val="12131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9304" y="28986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20440" y="28986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seções, ordenadas por total de pessoas (maior primeiro)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508760" y="3685032"/>
            <a:ext cx="6035040" cy="640080"/>
          </a:xfrm>
          <a:prstGeom prst="roundRect">
            <a:avLst>
              <a:gd name="adj" fmla="val 8571"/>
            </a:avLst>
          </a:prstGeom>
          <a:solidFill>
            <a:srgbClr val="12131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46504" y="36850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Custo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77640" y="36850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seção, ordenados por número — clicável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01000" y="2112264"/>
            <a:ext cx="3596335" cy="2103120"/>
          </a:xfrm>
          <a:prstGeom prst="roundRect">
            <a:avLst>
              <a:gd name="adj" fmla="val 2609"/>
            </a:avLst>
          </a:prstGeom>
          <a:solidFill>
            <a:srgbClr val="0F101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0456" y="22951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"Sem área"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0456" y="2660904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para onde vai todo CC que: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0456" y="2990088"/>
            <a:ext cx="3139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gestão preenchida no cadastro, ou</a:t>
            </a:r>
            <a:endParaRPr lang="en-US" sz="1150" dirty="0"/>
          </a:p>
          <a:p>
            <a:pPr marL="342900" indent="-342900">
              <a:lnSpc>
                <a:spcPts val="163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no cadastro de CC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0456" y="3758184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inesperada aqui = erro de carga ou cadastro faltando.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617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na gestão expande e recolhe os centros de custo daquela seção.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AGREGAÇÃO DO HEADCOUNT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modos de leitura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relatório mostra duas grandezas — o toggle fica no topo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5272888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33172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715768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pessoas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099816"/>
            <a:ext cx="472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vazia significa zero pessoas naquele CC e mês.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modo de conferência contra a folha do RH.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4448" y="2148840"/>
            <a:ext cx="5272888" cy="2286000"/>
          </a:xfrm>
          <a:prstGeom prst="roundRect">
            <a:avLst>
              <a:gd name="adj" fmla="val 2400"/>
            </a:avLst>
          </a:prstGeom>
          <a:solidFill>
            <a:srgbClr val="12131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98768" y="233172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/ colab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715768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do CC ÷ nº de pessoas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98768" y="3099816"/>
            <a:ext cx="472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Arredondado. Mostra "—" quando não há pessoas ou o custo é zero.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é usado em módulo: no razão as despesas entram negativas.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672584"/>
            <a:ext cx="11002975" cy="749808"/>
          </a:xfrm>
          <a:prstGeom prst="roundRect">
            <a:avLst>
              <a:gd name="adj" fmla="val 7317"/>
            </a:avLst>
          </a:prstGeom>
          <a:solidFill>
            <a:srgbClr val="0F101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" y="4855464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44168" y="4764024"/>
            <a:ext cx="10033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absurdo em custo/colab: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sempre é carga de DRE e de Headcount em meses diferentes, ou CC trocado numa das duas.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AGREGAÇÃO DO HEADCOUNT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Drilldown e conferência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célula de CC com pessoas é clicável — é assim que se audita o número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30552"/>
            <a:ext cx="5272888" cy="2212848"/>
          </a:xfrm>
          <a:prstGeom prst="roundRect">
            <a:avLst>
              <a:gd name="adj" fmla="val 2479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313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clique abre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4724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matrícula · colaborador · cargo daquele CC naquele mês.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Excel exporta a lista na ordem exibida.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Gestor e Analista veem só os CCs da própria gestão; admin vê tudo.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4448" y="2130552"/>
            <a:ext cx="5272888" cy="2212848"/>
          </a:xfrm>
          <a:prstGeom prst="roundRect">
            <a:avLst>
              <a:gd name="adj" fmla="val 2479"/>
            </a:avLst>
          </a:prstGeom>
          <a:solidFill>
            <a:srgbClr val="0F1013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98768" y="2313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conferência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98768" y="2715768"/>
            <a:ext cx="4724248" cy="457200"/>
          </a:xfrm>
          <a:prstGeom prst="roundRect">
            <a:avLst>
              <a:gd name="adj" fmla="val 120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3360" y="2761488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336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57136" y="2715768"/>
            <a:ext cx="386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o total do relatório com a folha do RH.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98768" y="3246120"/>
            <a:ext cx="4724248" cy="457200"/>
          </a:xfrm>
          <a:prstGeom prst="roundRect">
            <a:avLst>
              <a:gd name="adj" fmla="val 12000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3360" y="3291840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33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57136" y="3246120"/>
            <a:ext cx="386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Divergiu? Abrir a gestão e achar o CC suspeito.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98768" y="3776472"/>
            <a:ext cx="4724248" cy="457200"/>
          </a:xfrm>
          <a:prstGeom prst="roundRect">
            <a:avLst>
              <a:gd name="adj" fmla="val 12000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3360" y="3822192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336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57136" y="3776472"/>
            <a:ext cx="386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na célula e comparar nome a nome.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CC ↔ GESTÃO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campo, cinco consequências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Gestão do CC é o cadastro de maior alavancagem do sistema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2010400" cy="2011680"/>
          </a:xfrm>
          <a:prstGeom prst="roundRect">
            <a:avLst>
              <a:gd name="adj" fmla="val 2729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104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093976"/>
            <a:ext cx="107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2104" y="2642616"/>
            <a:ext cx="1534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as seções do relatório.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42504" y="1874520"/>
            <a:ext cx="2010400" cy="2011680"/>
          </a:xfrm>
          <a:prstGeom prst="roundRect">
            <a:avLst>
              <a:gd name="adj" fmla="val 2729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80248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0248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74024" y="2093976"/>
            <a:ext cx="107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80248" y="2642616"/>
            <a:ext cx="1534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gestão no Real e no Planejado.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90648" y="1874520"/>
            <a:ext cx="2010400" cy="2011680"/>
          </a:xfrm>
          <a:prstGeom prst="roundRect">
            <a:avLst>
              <a:gd name="adj" fmla="val 2729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28392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8392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22168" y="2093976"/>
            <a:ext cx="107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28392" y="2642616"/>
            <a:ext cx="1534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de OPEX por gestão.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38792" y="1874520"/>
            <a:ext cx="2010400" cy="2011680"/>
          </a:xfrm>
          <a:prstGeom prst="roundRect">
            <a:avLst>
              <a:gd name="adj" fmla="val 2729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76536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6536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70312" y="2093976"/>
            <a:ext cx="107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76536" y="2642616"/>
            <a:ext cx="1534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e Analista ficam travados nos CCs da própria gestão.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86935" y="1874520"/>
            <a:ext cx="2010400" cy="2011680"/>
          </a:xfrm>
          <a:prstGeom prst="roundRect">
            <a:avLst>
              <a:gd name="adj" fmla="val 2729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824679" y="2112264"/>
            <a:ext cx="402336" cy="402336"/>
          </a:xfrm>
          <a:prstGeom prst="ellipse">
            <a:avLst/>
          </a:prstGeom>
          <a:solidFill>
            <a:srgbClr val="0F101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4679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18455" y="2093976"/>
            <a:ext cx="107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824679" y="2642616"/>
            <a:ext cx="15349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6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relatório do construtor que use CC.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4178808"/>
            <a:ext cx="11002975" cy="804672"/>
          </a:xfrm>
          <a:prstGeom prst="roundRect">
            <a:avLst>
              <a:gd name="adj" fmla="val 6818"/>
            </a:avLst>
          </a:prstGeom>
          <a:solidFill>
            <a:srgbClr val="0F1013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816" y="4389120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44168" y="4270248"/>
            <a:ext cx="1003371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segurança: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consequência 4 não é cosmética. Mudar a gestão de um CC muda quem enxerga aquele dado — é uma decisão de acesso, não só de layout.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CC ↔ GESTÃO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único ponto de verdade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outro lugar para amarrar CC a gestão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11002975" cy="969264"/>
          </a:xfrm>
          <a:prstGeom prst="roundRect">
            <a:avLst>
              <a:gd name="adj" fmla="val 5660"/>
            </a:avLst>
          </a:prstGeom>
          <a:solidFill>
            <a:srgbClr val="121317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48840"/>
            <a:ext cx="1100297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 →  Centro de Custos  →  nó Analítico  →  campo Gestão  →  Salvar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3374136"/>
            <a:ext cx="11002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88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Gestões só nomeia e exibe — o próprio app avisa isso na tela.</a:t>
            </a:r>
            <a:endParaRPr lang="en-US" sz="1400" dirty="0"/>
          </a:p>
          <a:p>
            <a:pPr marL="342900" indent="-342900">
              <a:lnSpc>
                <a:spcPts val="1988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lançamento não guarda a gestão: ela é resolvida toda vez que o relatório é montado.</a:t>
            </a:r>
            <a:endParaRPr lang="en-US" sz="1400" dirty="0"/>
          </a:p>
          <a:p>
            <a:pPr marL="342900" indent="-342900">
              <a:lnSpc>
                <a:spcPts val="1988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isso, mudou a gestão de um CC, todo o histórico se reorganiza — sem recarregar nada.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800600"/>
            <a:ext cx="11002975" cy="749808"/>
          </a:xfrm>
          <a:prstGeom prst="roundRect">
            <a:avLst>
              <a:gd name="adj" fmla="val 7317"/>
            </a:avLst>
          </a:prstGeom>
          <a:solidFill>
            <a:srgbClr val="0F101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13816" y="4983480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44168" y="4892040"/>
            <a:ext cx="10033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reorganizar áreas: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avise quem usa os relatórios. Meses fechados vão mudar de aparência no mesmo instante, sem registro da mudança.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CC ↔ GESTÃO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NÃO é automático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conta nova no Plano de Contas não a coloca em todos os relatórios</a:t>
            </a:r>
            <a:endParaRPr lang="en-US" sz="14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93976"/>
          <a:ext cx="1100297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45994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 nova entra sozinha?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 Societário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dirigido pela árvore do Plano de Contas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e drilldown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leem o lançamento diretamente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 Gerencial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lista de contas fixa no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 DFs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lista de contas fixa no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 de grupos fixa no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0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do Headcount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1A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contas de pessoal fixa no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" y="5074920"/>
            <a:ext cx="11002975" cy="859536"/>
          </a:xfrm>
          <a:prstGeom prst="roundRect">
            <a:avLst>
              <a:gd name="adj" fmla="val 6383"/>
            </a:avLst>
          </a:prstGeom>
          <a:solidFill>
            <a:srgbClr val="0F1013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13816" y="5312664"/>
            <a:ext cx="384048" cy="384048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44168" y="5166360"/>
            <a:ext cx="1003371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 típico: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nova de pessoal aparece no Societário, mas o custo por colaborador do Headcount não muda. Toda conta nova relevante exige pedido de ajuste no código — registrar como item de backlog.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RUNBOOK E RISCOS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Runbook do fechamento mensal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rotina inteira em nove passos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2020824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REALIZADO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368296"/>
            <a:ext cx="5272888" cy="621792"/>
          </a:xfrm>
          <a:prstGeom prst="roundRect">
            <a:avLst>
              <a:gd name="adj" fmla="val 8824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2496312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52728" y="2368296"/>
            <a:ext cx="4413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o período para o mês de fechamento.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108960"/>
            <a:ext cx="5272888" cy="621792"/>
          </a:xfrm>
          <a:prstGeom prst="roundRect">
            <a:avLst>
              <a:gd name="adj" fmla="val 8824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8952" y="3236976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52728" y="3108960"/>
            <a:ext cx="4413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o razão do ERP no layout do Modelo.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849624"/>
            <a:ext cx="5272888" cy="621792"/>
          </a:xfrm>
          <a:prstGeom prst="roundRect">
            <a:avLst>
              <a:gd name="adj" fmla="val 8824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" y="3977640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52728" y="3849624"/>
            <a:ext cx="4413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Realizado → DRE → Carga completa → importar.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590288"/>
            <a:ext cx="5272888" cy="621792"/>
          </a:xfrm>
          <a:prstGeom prst="roundRect">
            <a:avLst>
              <a:gd name="adj" fmla="val 8824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4718304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52728" y="4590288"/>
            <a:ext cx="4413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erros? Se não, ciclo de correção → revalidar → aplicar.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5330952"/>
            <a:ext cx="5272888" cy="621792"/>
          </a:xfrm>
          <a:prstGeom prst="roundRect">
            <a:avLst>
              <a:gd name="adj" fmla="val 8824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" y="5458968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4F7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545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52728" y="5330952"/>
            <a:ext cx="4413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o cabeçalho: status aplicado, Erros = 0.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24448" y="2020824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E CONFERÊNCIA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24448" y="2368296"/>
            <a:ext cx="5272888" cy="621792"/>
          </a:xfrm>
          <a:prstGeom prst="roundRect">
            <a:avLst>
              <a:gd name="adj" fmla="val 8824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89040" y="2496312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904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82816" y="2368296"/>
            <a:ext cx="3956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o quadro de pessoal do RH no layout do Modelo.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24448" y="3108960"/>
            <a:ext cx="5272888" cy="621792"/>
          </a:xfrm>
          <a:prstGeom prst="roundRect">
            <a:avLst>
              <a:gd name="adj" fmla="val 8824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89040" y="3236976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904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82816" y="3108960"/>
            <a:ext cx="3956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Realizado → Headcount → Realizado → completa.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24448" y="3849624"/>
            <a:ext cx="5272888" cy="621792"/>
          </a:xfrm>
          <a:prstGeom prst="roundRect">
            <a:avLst>
              <a:gd name="adj" fmla="val 8824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89040" y="3977640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8904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82816" y="3849624"/>
            <a:ext cx="3956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relatório: total contra o RH e checar "Sem área".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24448" y="4590288"/>
            <a:ext cx="5272888" cy="621792"/>
          </a:xfrm>
          <a:prstGeom prst="roundRect">
            <a:avLst>
              <a:gd name="adj" fmla="val 8824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89040" y="4718304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89040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82816" y="4590288"/>
            <a:ext cx="3956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DRE Societário e OPEX do mês contra o fechamento contábil.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RUNBOOK E RISCOS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sanidade pós-carga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conferências rápidas que pegam quase todo problema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093976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3816" y="22219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9090A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2093976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com status aplicado e Erros = 0.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13816" y="29169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9090A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2788920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 DRE Societário do mês bate com o fechamento contábil.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483864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" y="36118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9090A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3483864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seção "Sem área" inesperada no relatório de Headcount.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178808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0F1013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" y="43068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9090A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7592" y="4178808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pessoas bate com a folha do RH.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4873752"/>
            <a:ext cx="11002975" cy="566928"/>
          </a:xfrm>
          <a:prstGeom prst="roundRect">
            <a:avLst>
              <a:gd name="adj" fmla="val 9677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" y="50017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9090A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7592" y="487375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colaborador dentro da faixa esperada.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4360" y="562356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último item é o mais sensível: valor absurdo indica carga de DRE e de Headcount em meses diferentes, ou CC trocado.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088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RUNBOOK E RISCOS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030407" y="27432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21317"/>
          </a:solidFill>
          <a:ln w="9525">
            <a:solidFill>
              <a:srgbClr val="2A2D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30407" y="27432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nunca fazer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1100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ações de alto risco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093976"/>
            <a:ext cx="3521354" cy="1389888"/>
          </a:xfrm>
          <a:prstGeom prst="roundRect">
            <a:avLst>
              <a:gd name="adj" fmla="val 3947"/>
            </a:avLst>
          </a:prstGeom>
          <a:solidFill>
            <a:srgbClr val="0F1013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3816" y="2313432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71016" y="2258568"/>
            <a:ext cx="26435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completa com período errado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3816" y="2807208"/>
            <a:ext cx="3082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o realizado inteiro de um mês já fechado.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5170" y="2093976"/>
            <a:ext cx="3521354" cy="1389888"/>
          </a:xfrm>
          <a:prstGeom prst="roundRect">
            <a:avLst>
              <a:gd name="adj" fmla="val 3947"/>
            </a:avLst>
          </a:prstGeom>
          <a:solidFill>
            <a:srgbClr val="0F1013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4626" y="2313432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4626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1826" y="2258568"/>
            <a:ext cx="26435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CC ou conta com lançamento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54626" y="2807208"/>
            <a:ext cx="3082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impede, mas a tentativa gera confusão. Reclassifique em vez de excluir.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5981" y="2093976"/>
            <a:ext cx="3521354" cy="1389888"/>
          </a:xfrm>
          <a:prstGeom prst="roundRect">
            <a:avLst>
              <a:gd name="adj" fmla="val 3947"/>
            </a:avLst>
          </a:prstGeom>
          <a:solidFill>
            <a:srgbClr val="0F1013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95437" y="2313432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5437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52637" y="2258568"/>
            <a:ext cx="26435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gestão de CC no fechamento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95437" y="2807208"/>
            <a:ext cx="3082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o histórico de todos os relatórios na hora, inclusive quem enxerga o quê.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666744"/>
            <a:ext cx="3521354" cy="1389888"/>
          </a:xfrm>
          <a:prstGeom prst="roundRect">
            <a:avLst>
              <a:gd name="adj" fmla="val 3947"/>
            </a:avLst>
          </a:prstGeom>
          <a:solidFill>
            <a:srgbClr val="0F1013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" y="3886200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71016" y="3831336"/>
            <a:ext cx="26435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Recarregar HC com matrícula duplicada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3816" y="4379976"/>
            <a:ext cx="3082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soma — sobrescreve. A última linha vence.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35170" y="3666744"/>
            <a:ext cx="3521354" cy="1389888"/>
          </a:xfrm>
          <a:prstGeom prst="roundRect">
            <a:avLst>
              <a:gd name="adj" fmla="val 3947"/>
            </a:avLst>
          </a:prstGeom>
          <a:solidFill>
            <a:srgbClr val="0F1013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54626" y="3886200"/>
            <a:ext cx="365760" cy="365760"/>
          </a:xfrm>
          <a:prstGeom prst="ellipse">
            <a:avLst/>
          </a:prstGeom>
          <a:solidFill>
            <a:srgbClr val="0F101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4626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11826" y="3831336"/>
            <a:ext cx="26435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lote aplicado sem saber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54626" y="4379976"/>
            <a:ext cx="3082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remove os lançamentos que ele gerou.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9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566160"/>
            <a:ext cx="5120640" cy="5120640"/>
          </a:xfrm>
          <a:prstGeom prst="ellipse">
            <a:avLst/>
          </a:prstGeom>
          <a:solidFill>
            <a:srgbClr val="4F7CFF">
              <a:alpha val="7000"/>
            </a:srgbClr>
          </a:solidFill>
          <a:ln w="12700">
            <a:solidFill>
              <a:srgbClr val="0909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fica documentado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272888" cy="1965960"/>
          </a:xfrm>
          <a:prstGeom prst="roundRect">
            <a:avLst>
              <a:gd name="adj" fmla="val 2791"/>
            </a:avLst>
          </a:prstGeom>
          <a:solidFill>
            <a:srgbClr val="121317"/>
          </a:solidFill>
          <a:ln w="12700">
            <a:solidFill>
              <a:srgbClr val="2A2D3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operar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472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carga: botão Modelo em cada tela.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necessário: admin — Parâmetros só aparece para admin.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21, 34 e 35 são os de consulta diária.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1920240"/>
            <a:ext cx="5272888" cy="1965960"/>
          </a:xfrm>
          <a:prstGeom prst="roundRect">
            <a:avLst>
              <a:gd name="adj" fmla="val 2791"/>
            </a:avLst>
          </a:prstGeom>
          <a:solidFill>
            <a:srgbClr val="0F101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98768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Débitos a acompanhar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8768" y="2487168"/>
            <a:ext cx="472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contas fixas no código — slide 33.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Headcount mais frouxa que a do DRE — slide 25.</a:t>
            </a:r>
            <a:endParaRPr lang="en-US" sz="1250" dirty="0"/>
          </a:p>
          <a:p>
            <a:pPr marL="342900" indent="-342900">
              <a:lnSpc>
                <a:spcPts val="177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existe no banco, mas não tem tela.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4160520"/>
            <a:ext cx="11002975" cy="914400"/>
          </a:xfrm>
          <a:prstGeom prst="roundRect">
            <a:avLst>
              <a:gd name="adj" fmla="val 6000"/>
            </a:avLst>
          </a:prstGeom>
          <a:solidFill>
            <a:srgbClr val="121317"/>
          </a:solidFill>
          <a:ln w="12700">
            <a:solidFill>
              <a:srgbClr val="4F7C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16052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reportar um problema, envie:  </a:t>
            </a:r>
            <a:pPr indent="0" marL="0">
              <a:buNone/>
            </a:pPr>
            <a:r>
              <a:rPr lang="en-US" sz="1400" dirty="0">
                <a:solidFill>
                  <a:srgbClr val="A1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do erro  ·  identificação do lote  ·  mês de competência  ·  o que já foi tentado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539496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VectonPlan  ·  vecton.marcher.com.br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 Real e Headcount — sistemática de carga e agregação</dc:title>
  <dc:subject>PptxGenJS Presentation</dc:subject>
  <dc:creator>VectonPlan</dc:creator>
  <cp:lastModifiedBy>VectonPlan</cp:lastModifiedBy>
  <cp:revision>1</cp:revision>
  <dcterms:created xsi:type="dcterms:W3CDTF">2026-07-31T15:54:21Z</dcterms:created>
  <dcterms:modified xsi:type="dcterms:W3CDTF">2026-07-31T15:54:21Z</dcterms:modified>
</cp:coreProperties>
</file>